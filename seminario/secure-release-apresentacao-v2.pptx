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f0031055fa949a4" /><Relationship Type="http://schemas.openxmlformats.org/officeDocument/2006/relationships/extended-properties" Target="/docProps/app.xml" Id="R1aaab8fb151b4def" /><Relationship Type="http://schemas.openxmlformats.org/officeDocument/2006/relationships/officeDocument" Target="/ppt/presentation.xml" Id="Rac5b618365c44e3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9da17d7b56b4a5c"/>
  </p:sldMasterIdLst>
  <p:notesMasterIdLst>
    <p:notesMasterId xmlns:r="http://schemas.openxmlformats.org/officeDocument/2006/relationships" r:id="R9a550b8cc4684fa4"/>
  </p:notesMasterIdLst>
  <p:sldIdLst>
    <p:sldId xmlns:r="http://schemas.openxmlformats.org/officeDocument/2006/relationships" id="256" r:id="Rc756c7d416944994"/>
    <p:sldId xmlns:r="http://schemas.openxmlformats.org/officeDocument/2006/relationships" id="257" r:id="Rc36a1009c48442d6"/>
    <p:sldId xmlns:r="http://schemas.openxmlformats.org/officeDocument/2006/relationships" id="258" r:id="Rff66d4983fd04403"/>
    <p:sldId xmlns:r="http://schemas.openxmlformats.org/officeDocument/2006/relationships" id="259" r:id="R20344573451d498d"/>
    <p:sldId xmlns:r="http://schemas.openxmlformats.org/officeDocument/2006/relationships" id="260" r:id="Rfb31caeac4c94b8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e18823649c24874" /><Relationship Type="http://schemas.openxmlformats.org/officeDocument/2006/relationships/slideMaster" Target="/ppt/slideMasters/slideMaster1.xml" Id="R29da17d7b56b4a5c" /><Relationship Type="http://schemas.openxmlformats.org/officeDocument/2006/relationships/notesMaster" Target="/ppt/notesMasters/notesMaster1.xml" Id="R9a550b8cc4684fa4" /><Relationship Type="http://schemas.openxmlformats.org/officeDocument/2006/relationships/presProps" Target="/ppt/presProps.xml" Id="Rbede797794e74961" /><Relationship Type="http://schemas.openxmlformats.org/officeDocument/2006/relationships/tableStyles" Target="/ppt/tableStyles.xml" Id="Ra28cada20ff747fe" /><Relationship Type="http://schemas.openxmlformats.org/officeDocument/2006/relationships/slide" Target="/ppt/slides/slide1.xml" Id="Rc756c7d416944994" /><Relationship Type="http://schemas.openxmlformats.org/officeDocument/2006/relationships/slide" Target="/ppt/slides/slide2.xml" Id="Rc36a1009c48442d6" /><Relationship Type="http://schemas.openxmlformats.org/officeDocument/2006/relationships/slide" Target="/ppt/slides/slide3.xml" Id="Rff66d4983fd04403" /><Relationship Type="http://schemas.openxmlformats.org/officeDocument/2006/relationships/slide" Target="/ppt/slides/slide4.xml" Id="R20344573451d498d" /><Relationship Type="http://schemas.openxmlformats.org/officeDocument/2006/relationships/slide" Target="/ppt/slides/slide5.xml" Id="Rfb31caeac4c94b8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950b278eea84a1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7772d7782574111" /><Relationship Type="http://schemas.openxmlformats.org/officeDocument/2006/relationships/notesMaster" Target="/ppt/notesMasters/notesMaster1.xml" Id="R39ec9c2161f241e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48efc39e6834d00" /><Relationship Type="http://schemas.openxmlformats.org/officeDocument/2006/relationships/notesMaster" Target="/ppt/notesMasters/notesMaster1.xml" Id="Rf367f8458bb14d6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6a104d5e4e24e89" /><Relationship Type="http://schemas.openxmlformats.org/officeDocument/2006/relationships/notesMaster" Target="/ppt/notesMasters/notesMaster1.xml" Id="R1a371d6f5fe0489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9bb700ce8924416" /><Relationship Type="http://schemas.openxmlformats.org/officeDocument/2006/relationships/notesMaster" Target="/ppt/notesMasters/notesMaster1.xml" Id="R82ab808e054c4e9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35f96c920f647c8" /><Relationship Type="http://schemas.openxmlformats.org/officeDocument/2006/relationships/notesMaster" Target="/ppt/notesMasters/notesMaster1.xml" Id="Re4e1f3d54027479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0:00–1:00 · Pessoa 1</a:t>
            </a:r>
          </a:p>
          <a:p xmlns:a="http://schemas.openxmlformats.org/drawingml/2006/main">
            <a:r>
              <a:t>Abra com a pergunta: se o build terminou com sucesso, como sabemos que o deploy recebeu o mesmo pacote? Explique que o artifact pode ser trocado durante a transferência. A demonstração assina um pacote e valida os bytes no job que publica.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1:00–2:30 · Pessoa 1</a:t>
            </a:r>
          </a:p>
          <a:p xmlns:a="http://schemas.openxmlformats.org/drawingml/2006/main">
            <a:r>
              <a:t>Mostre a transferência como fronteira de risco. O sucesso do build descreve apenas aquele job. O job de deploy deve conferir o pacote que baixou, porque esses são os bytes que ele vai transformar e publicar.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Fonte: GitHub Docs, Artifact attestations, https://docs.github.com/en/actions/concepts/security/artifact-attestations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2:30–4:30 · Pessoa 1</a:t>
            </a:r>
          </a:p>
          <a:p xmlns:a="http://schemas.openxmlformats.org/drawingml/2006/main">
            <a:r>
              <a:t>Mostre os dois hashes do experimento local. O hash revela que os bytes mudaram, mas não autoriza um deploy quando o checksum pode ser trocado junto. A atestação associa o digest à identidade do workflow e aos metadados de origem. Na execução 36476423665, a identidade OIDC apontava para o repositório e workflow esperados, em refs/heads/main, no commit b6fe2d3f2cbad8e0e87b833691b94bcf8c1441d1.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GitHub informa que atestações incluem repositório, workflow, commit e evento: https://docs.github.com/en/actions/concepts/security/artifact-attestations. Para repositórios públicos, a documentação descreve o uso do Sigstore Public Good e seu transparency log.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4:30–8:00 · Pessoa 2 · Demonstração ao vivo</a:t>
            </a:r>
          </a:p>
          <a:p xmlns:a="http://schemas.openxmlformats.org/drawingml/2006/main">
            <a:r>
              <a:t>1. Execute test_case=normal; mostre a etapa de verificação aprovada e abra o endereço do Pages.</a:t>
            </a:r>
          </a:p>
          <a:p xmlns:a="http://schemas.openxmlformats.org/drawingml/2006/main">
            <a:r>
              <a:t>2. Execute test_case=tampered-package; mostre a rejeição do digest e que extração, upload e deploy foram ignorados.</a:t>
            </a:r>
          </a:p>
          <a:p xmlns:a="http://schemas.openxmlformats.org/drawingml/2006/main">
            <a:r>
              <a:t>3. Reabra o site e confira que a versão anterior continua visível.</a:t>
            </a:r>
          </a:p>
          <a:p xmlns:a="http://schemas.openxmlformats.org/drawingml/2006/main">
            <a:r>
              <a:t>4. Se houver tempo, mostre without-attestation e wrong-provenance.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Os modos negativos são selecionados manualmente em Actions. Um push normal em main não altera o artifact após a atestação.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8:00–9:00 · Pessoa 2</a:t>
            </a:r>
          </a:p>
          <a:p xmlns:a="http://schemas.openxmlformats.org/drawingml/2006/main">
            <a:r>
              <a:t>Feche distinguindo procedência de segurança do conteúdo. Se alguém autorizado compromete o código ou o workflow em main, a atestação ainda pode ser válida. A branch principal e o workflow são a raiz de confiança e precisam de proteção. Próximos passos para a dupla: incorporar as PRs em ordem, configurar Pages como fonte GitHub Actions, executar os cenários e ensaiar em 9 minutos.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Fontes: https://docs.github.com/en/actions/concepts/security/artifact-attestations e https://docs.github.com/en/pages/getting-started-with-github-pages/using-custom-workflows-with-github-pages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793dbe050b410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e06d788672e482e" /><Relationship Type="http://schemas.openxmlformats.org/officeDocument/2006/relationships/slideLayout" Target="/ppt/slideLayouts/slideLayout1.xml" Id="R52b94201ede3435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2b94201ede3435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e2a815243f423a" /><Relationship Type="http://schemas.openxmlformats.org/officeDocument/2006/relationships/notesSlide" Target="/ppt/notesSlides/notesSlide1.xml" Id="Rab0e33a2731b45b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4f2e2d377c4c84" /><Relationship Type="http://schemas.openxmlformats.org/officeDocument/2006/relationships/notesSlide" Target="/ppt/notesSlides/notesSlide2.xml" Id="R025eb53d2fde4fd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fd9ffbc4f9469d" /><Relationship Type="http://schemas.openxmlformats.org/officeDocument/2006/relationships/notesSlide" Target="/ppt/notesSlides/notesSlide3.xml" Id="R2c4a09c4b91c4de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14270eedf04487" /><Relationship Type="http://schemas.openxmlformats.org/officeDocument/2006/relationships/notesSlide" Target="/ppt/notesSlides/notesSlide4.xml" Id="R2e56a3c0c192403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b5a79a124548e3" /><Relationship Type="http://schemas.openxmlformats.org/officeDocument/2006/relationships/notesSlide" Target="/ppt/notesSlides/notesSlide5.xml" Id="R12cd7b440f5e4a7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28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ECA5DE35-1E14-4E4F-9013-3A06D8985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95375"/>
            <a:ext cx="85725" cy="442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8C86"/>
          </a:solidFill>
          <a:ln xmlns:a="http://schemas.openxmlformats.org/drawingml/2006/main" w="14288">
            <a:solidFill>
              <a:srgbClr val="188C86"/>
            </a:solidFill>
            <a:prstDash val="solid"/>
          </a:ln>
        </p:spPr>
      </p:sp>
      <p:sp>
        <p:nvSpPr>
          <p:cNvPr id="2" name="course">
            <a:extLst xmlns:a="http://schemas.openxmlformats.org/drawingml/2006/main">
              <a:ext uri="{FF2B5EF4-FFF2-40B4-BE49-F238E27FC236}">
                <a16:creationId xmlns:a16="http://schemas.microsoft.com/office/drawing/2014/main" id="{287BBDD6-6168-492A-A448-629059DC7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162050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B7C9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B7C9D8"/>
                </a:solidFill>
                <a:latin typeface="Helvetica Neue"/>
                <a:ea typeface="Helvetica Neue"/>
                <a:cs typeface="Helvetica Neue"/>
              </a:rPr>
              <a:t>SEMINÁRIO · SEGURANÇA DE COMPUTADORES · 30/09/2026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619A0A07-B90E-4084-9694-30625950D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924050"/>
            <a:ext cx="9715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5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Secure Release</a:t>
            </a:r>
          </a:p>
        </p:txBody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057968AC-20D6-4AB1-9B1A-4B5F3D6CB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14750"/>
            <a:ext cx="9048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0">
                <a:solidFill>
                  <a:srgbClr val="59CDC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0">
                <a:solidFill>
                  <a:srgbClr val="59CDC1"/>
                </a:solidFill>
                <a:latin typeface="Helvetica Neue"/>
                <a:ea typeface="Helvetica Neue"/>
                <a:cs typeface="Helvetica Neue"/>
              </a:rPr>
              <a:t>Verificar os bytes recebidos</a:t>
            </a:r>
          </a:p>
          <a:p xmlns:a="http://schemas.openxmlformats.org/drawingml/2006/main">
            <a:pPr algn="l">
              <a:defRPr sz="2925" b="0">
                <a:solidFill>
                  <a:srgbClr val="59CDC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0">
                <a:solidFill>
                  <a:srgbClr val="59CDC1"/>
                </a:solidFill>
                <a:latin typeface="Helvetica Neue"/>
                <a:ea typeface="Helvetica Neue"/>
                <a:cs typeface="Helvetica Neue"/>
              </a:rPr>
              <a:t>antes de publicar</a:t>
            </a:r>
          </a:p>
        </p:txBody>
      </p:sp>
      <p:sp>
        <p:nvSpPr>
          <p:cNvPr id="5" name="cover-prompt">
            <a:extLst xmlns:a="http://schemas.openxmlformats.org/drawingml/2006/main">
              <a:ext uri="{FF2B5EF4-FFF2-40B4-BE49-F238E27FC236}">
                <a16:creationId xmlns:a16="http://schemas.microsoft.com/office/drawing/2014/main" id="{38B46E19-2D7E-410F-91B0-9C7F029BC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7685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Build verde não prova que os mesmos bytes chegaram ao deploy.</a:t>
            </a:r>
          </a:p>
        </p:txBody>
      </p:sp>
    </p:spTree>
    <p:extLst>
      <p:ext uri="{BB962C8B-B14F-4D97-AF65-F5344CB8AC3E}">
        <p14:creationId xmlns:p14="http://schemas.microsoft.com/office/powerpoint/2010/main" val="100541085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91B1953-3F60-4DD0-BDD6-23E04CD2C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896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4283F"/>
                </a:solidFill>
                <a:latin typeface="Helvetica Neue"/>
                <a:ea typeface="Helvetica Neue"/>
                <a:cs typeface="Helvetica Neue"/>
              </a:rPr>
              <a:t>A fronteira entre build e deploy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E299D64E-FB7D-4F82-B988-0634762A9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D5D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4D5D70"/>
                </a:solidFill>
                <a:latin typeface="Helvetica Neue"/>
                <a:ea typeface="Helvetica Neue"/>
                <a:cs typeface="Helvetica Neue"/>
              </a:rPr>
              <a:t>O deploy precisa validar o pacote que recebeu, não confiar só no resultado do build.</a:t>
            </a:r>
          </a:p>
        </p:txBody>
      </p:sp>
      <p:sp>
        <p:nvSpPr>
          <p:cNvPr id="3" name="flow-1">
            <a:extLst xmlns:a="http://schemas.openxmlformats.org/drawingml/2006/main">
              <a:ext uri="{FF2B5EF4-FFF2-40B4-BE49-F238E27FC236}">
                <a16:creationId xmlns:a16="http://schemas.microsoft.com/office/drawing/2014/main" id="{B5906E90-EF70-4530-BDCF-6DDAE4A84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81250"/>
            <a:ext cx="186690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C5D1"/>
            </a:solidFill>
            <a:prstDash val="solid"/>
          </a:ln>
        </p:spPr>
      </p:sp>
      <p:sp>
        <p:nvSpPr>
          <p:cNvPr id="4" name="flow-1-title">
            <a:extLst xmlns:a="http://schemas.openxmlformats.org/drawingml/2006/main">
              <a:ext uri="{FF2B5EF4-FFF2-40B4-BE49-F238E27FC236}">
                <a16:creationId xmlns:a16="http://schemas.microsoft.com/office/drawing/2014/main" id="{B95F20BC-E0E3-48A5-BB77-96A30916E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600325"/>
            <a:ext cx="1619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4283F"/>
                </a:solidFill>
                <a:latin typeface="Helvetica Neue"/>
                <a:ea typeface="Helvetica Neue"/>
                <a:cs typeface="Helvetica Neue"/>
              </a:rPr>
              <a:t>Código</a:t>
            </a:r>
          </a:p>
        </p:txBody>
      </p:sp>
      <p:sp>
        <p:nvSpPr>
          <p:cNvPr id="5" name="flow-1-body">
            <a:extLst xmlns:a="http://schemas.openxmlformats.org/drawingml/2006/main">
              <a:ext uri="{FF2B5EF4-FFF2-40B4-BE49-F238E27FC236}">
                <a16:creationId xmlns:a16="http://schemas.microsoft.com/office/drawing/2014/main" id="{0B4ACDF6-3ECF-4B18-943D-CBBEEB9A7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57525"/>
            <a:ext cx="1600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rPr>
              <a:t>commit em</a:t>
            </a:r>
          </a:p>
          <a:p xmlns:a="http://schemas.openxmlformats.org/drawingml/2006/main">
            <a:pPr algn="ctr">
              <a:defRPr sz="1575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rPr>
              <a:t>main</a:t>
            </a:r>
          </a:p>
        </p:txBody>
      </p:sp>
      <p:sp>
        <p:nvSpPr>
          <p:cNvPr id="6" name="flow-2">
            <a:extLst xmlns:a="http://schemas.openxmlformats.org/drawingml/2006/main">
              <a:ext uri="{FF2B5EF4-FFF2-40B4-BE49-F238E27FC236}">
                <a16:creationId xmlns:a16="http://schemas.microsoft.com/office/drawing/2014/main" id="{8D6841BD-814B-4D89-8851-3B7B77651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2381250"/>
            <a:ext cx="186690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C5D1"/>
            </a:solidFill>
            <a:prstDash val="solid"/>
          </a:ln>
        </p:spPr>
      </p:sp>
      <p:sp>
        <p:nvSpPr>
          <p:cNvPr id="7" name="flow-2-title">
            <a:extLst xmlns:a="http://schemas.openxmlformats.org/drawingml/2006/main">
              <a:ext uri="{FF2B5EF4-FFF2-40B4-BE49-F238E27FC236}">
                <a16:creationId xmlns:a16="http://schemas.microsoft.com/office/drawing/2014/main" id="{51698343-26BA-4890-B869-DCFD615FE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600325"/>
            <a:ext cx="1619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4283F"/>
                </a:solidFill>
                <a:latin typeface="Helvetica Neue"/>
                <a:ea typeface="Helvetica Neue"/>
                <a:cs typeface="Helvetica Neue"/>
              </a:rPr>
              <a:t>Build</a:t>
            </a:r>
          </a:p>
        </p:txBody>
      </p:sp>
      <p:sp>
        <p:nvSpPr>
          <p:cNvPr id="8" name="flow-2-body">
            <a:extLst xmlns:a="http://schemas.openxmlformats.org/drawingml/2006/main">
              <a:ext uri="{FF2B5EF4-FFF2-40B4-BE49-F238E27FC236}">
                <a16:creationId xmlns:a16="http://schemas.microsoft.com/office/drawing/2014/main" id="{4A062E8D-0189-42ED-8270-8B407D7C2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3057525"/>
            <a:ext cx="1600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rPr>
              <a:t>gera o site</a:t>
            </a:r>
          </a:p>
          <a:p xmlns:a="http://schemas.openxmlformats.org/drawingml/2006/main">
            <a:pPr algn="ctr">
              <a:defRPr sz="1575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rPr>
              <a:t>e o pacote</a:t>
            </a:r>
          </a:p>
        </p:txBody>
      </p:sp>
      <p:sp>
        <p:nvSpPr>
          <p:cNvPr id="9" name="flow-3">
            <a:extLst xmlns:a="http://schemas.openxmlformats.org/drawingml/2006/main">
              <a:ext uri="{FF2B5EF4-FFF2-40B4-BE49-F238E27FC236}">
                <a16:creationId xmlns:a16="http://schemas.microsoft.com/office/drawing/2014/main" id="{4DE14F6A-EC8D-4C21-A4EA-756D5F5E4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381250"/>
            <a:ext cx="186690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DDF2EF"/>
          </a:solidFill>
          <a:ln xmlns:a="http://schemas.openxmlformats.org/drawingml/2006/main" w="14288">
            <a:solidFill>
              <a:srgbClr val="188C86"/>
            </a:solidFill>
            <a:prstDash val="solid"/>
          </a:ln>
        </p:spPr>
      </p:sp>
      <p:sp>
        <p:nvSpPr>
          <p:cNvPr id="10" name="flow-3-title">
            <a:extLst xmlns:a="http://schemas.openxmlformats.org/drawingml/2006/main">
              <a:ext uri="{FF2B5EF4-FFF2-40B4-BE49-F238E27FC236}">
                <a16:creationId xmlns:a16="http://schemas.microsoft.com/office/drawing/2014/main" id="{60659931-BDE4-4802-B776-A1FACED49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2600325"/>
            <a:ext cx="1619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4283F"/>
                </a:solidFill>
                <a:latin typeface="Helvetica Neue"/>
                <a:ea typeface="Helvetica Neue"/>
                <a:cs typeface="Helvetica Neue"/>
              </a:rPr>
              <a:t>Atestação</a:t>
            </a:r>
          </a:p>
        </p:txBody>
      </p:sp>
      <p:sp>
        <p:nvSpPr>
          <p:cNvPr id="11" name="flow-3-body">
            <a:extLst xmlns:a="http://schemas.openxmlformats.org/drawingml/2006/main">
              <a:ext uri="{FF2B5EF4-FFF2-40B4-BE49-F238E27FC236}">
                <a16:creationId xmlns:a16="http://schemas.microsoft.com/office/drawing/2014/main" id="{9CE02BC8-9110-41E1-98D2-4EC86938E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057525"/>
            <a:ext cx="1600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rPr>
              <a:t>hash + origem</a:t>
            </a:r>
          </a:p>
          <a:p xmlns:a="http://schemas.openxmlformats.org/drawingml/2006/main">
            <a:pPr algn="ctr">
              <a:defRPr sz="1575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rPr>
              <a:t>do build</a:t>
            </a:r>
          </a:p>
        </p:txBody>
      </p:sp>
      <p:sp>
        <p:nvSpPr>
          <p:cNvPr id="12" name="flow-4">
            <a:extLst xmlns:a="http://schemas.openxmlformats.org/drawingml/2006/main">
              <a:ext uri="{FF2B5EF4-FFF2-40B4-BE49-F238E27FC236}">
                <a16:creationId xmlns:a16="http://schemas.microsoft.com/office/drawing/2014/main" id="{2F22E8B7-FE33-4860-9E8E-37F20DDEA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2381250"/>
            <a:ext cx="186690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8E6E4"/>
          </a:solidFill>
          <a:ln xmlns:a="http://schemas.openxmlformats.org/drawingml/2006/main" w="14288">
            <a:solidFill>
              <a:srgbClr val="B44742"/>
            </a:solidFill>
            <a:prstDash val="solid"/>
          </a:ln>
        </p:spPr>
      </p:sp>
      <p:sp>
        <p:nvSpPr>
          <p:cNvPr id="13" name="flow-4-title">
            <a:extLst xmlns:a="http://schemas.openxmlformats.org/drawingml/2006/main">
              <a:ext uri="{FF2B5EF4-FFF2-40B4-BE49-F238E27FC236}">
                <a16:creationId xmlns:a16="http://schemas.microsoft.com/office/drawing/2014/main" id="{397C8022-6F62-4103-B9E2-9535A753F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600325"/>
            <a:ext cx="1619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4283F"/>
                </a:solidFill>
                <a:latin typeface="Helvetica Neue"/>
                <a:ea typeface="Helvetica Neue"/>
                <a:cs typeface="Helvetica Neue"/>
              </a:rPr>
              <a:t>Trânsito</a:t>
            </a:r>
          </a:p>
        </p:txBody>
      </p:sp>
      <p:sp>
        <p:nvSpPr>
          <p:cNvPr id="14" name="flow-4-body">
            <a:extLst xmlns:a="http://schemas.openxmlformats.org/drawingml/2006/main">
              <a:ext uri="{FF2B5EF4-FFF2-40B4-BE49-F238E27FC236}">
                <a16:creationId xmlns:a16="http://schemas.microsoft.com/office/drawing/2014/main" id="{48B9CA2D-4176-4C82-8A7F-8A52A7CB1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3057525"/>
            <a:ext cx="1600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288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rPr>
              <a:t>fronteira onde</a:t>
            </a:r>
          </a:p>
          <a:p xmlns:a="http://schemas.openxmlformats.org/drawingml/2006/main">
            <a:pPr algn="ctr">
              <a:defRPr sz="1575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rPr>
              <a:t>pode haver troca</a:t>
            </a:r>
          </a:p>
        </p:txBody>
      </p:sp>
      <p:sp>
        <p:nvSpPr>
          <p:cNvPr id="15" name="flow-5">
            <a:extLst xmlns:a="http://schemas.openxmlformats.org/drawingml/2006/main">
              <a:ext uri="{FF2B5EF4-FFF2-40B4-BE49-F238E27FC236}">
                <a16:creationId xmlns:a16="http://schemas.microsoft.com/office/drawing/2014/main" id="{B066A52E-8C7E-4B5D-8113-01F258F07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381250"/>
            <a:ext cx="186690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14283F"/>
          </a:solidFill>
          <a:ln xmlns:a="http://schemas.openxmlformats.org/drawingml/2006/main" w="14288">
            <a:solidFill>
              <a:srgbClr val="14283F"/>
            </a:solidFill>
            <a:prstDash val="solid"/>
          </a:ln>
        </p:spPr>
      </p:sp>
      <p:sp>
        <p:nvSpPr>
          <p:cNvPr id="16" name="flow-5-title">
            <a:extLst xmlns:a="http://schemas.openxmlformats.org/drawingml/2006/main">
              <a:ext uri="{FF2B5EF4-FFF2-40B4-BE49-F238E27FC236}">
                <a16:creationId xmlns:a16="http://schemas.microsoft.com/office/drawing/2014/main" id="{138B8A87-3F2D-4A01-A756-F1D258B0F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2600325"/>
            <a:ext cx="1619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Job deploy</a:t>
            </a:r>
          </a:p>
        </p:txBody>
      </p:sp>
      <p:sp>
        <p:nvSpPr>
          <p:cNvPr id="17" name="flow-5-body">
            <a:extLst xmlns:a="http://schemas.openxmlformats.org/drawingml/2006/main">
              <a:ext uri="{FF2B5EF4-FFF2-40B4-BE49-F238E27FC236}">
                <a16:creationId xmlns:a16="http://schemas.microsoft.com/office/drawing/2014/main" id="{F4E2E04B-9B34-4344-857D-C8D8F5D6C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057525"/>
            <a:ext cx="1600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283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verifica, depois</a:t>
            </a:r>
          </a:p>
          <a:p xmlns:a="http://schemas.openxmlformats.org/drawingml/2006/main">
            <a:pPr algn="ctr">
              <a:defRPr sz="15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publica no Pages</a:t>
            </a:r>
          </a:p>
        </p:txBody>
      </p:sp>
      <p:cxnSp>
        <p:nvCxnSpPr>
          <p:cNvPr id="41" name=""/>
          <p:cNvCxnSpPr>
            <a:stCxn xmlns:a="http://schemas.openxmlformats.org/drawingml/2006/main" id="3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457450" y="3119438"/>
            <a:ext cx="3905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D5D70"/>
            </a:solidFill>
            <a:prstDash val="solid"/>
            <a:tailEnd type="arrow" w="med" len="med"/>
          </a:ln>
        </p:spPr>
      </p:cxnSp>
      <p:cxnSp>
        <p:nvCxnSpPr>
          <p:cNvPr id="42" name="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4714875" y="3119438"/>
            <a:ext cx="3905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D5D70"/>
            </a:solidFill>
            <a:prstDash val="solid"/>
            <a:tailEnd type="arrow" w="med" len="med"/>
          </a:ln>
        </p:spPr>
      </p:cxnSp>
      <p:cxnSp>
        <p:nvCxnSpPr>
          <p:cNvPr id="43" name=""/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6972300" y="3119438"/>
            <a:ext cx="3905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44742"/>
            </a:solidFill>
            <a:prstDash val="solid"/>
            <a:tailEnd type="arrow" w="med" len="med"/>
          </a:ln>
        </p:spPr>
      </p:cxnSp>
      <p:cxnSp>
        <p:nvCxnSpPr>
          <p:cNvPr id="44" name=""/>
          <p:cNvCxnSpPr>
            <a:stCxn xmlns:a="http://schemas.openxmlformats.org/drawingml/2006/main" id="12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9229725" y="3119438"/>
            <a:ext cx="3905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D5D70"/>
            </a:solidFill>
            <a:prstDash val="solid"/>
            <a:tailEnd type="arrow" w="med" len="med"/>
          </a:ln>
        </p:spPr>
      </p:cxnSp>
      <p:sp>
        <p:nvSpPr>
          <p:cNvPr id="22" name="pass-outcome">
            <a:extLst xmlns:a="http://schemas.openxmlformats.org/drawingml/2006/main">
              <a:ext uri="{FF2B5EF4-FFF2-40B4-BE49-F238E27FC236}">
                <a16:creationId xmlns:a16="http://schemas.microsoft.com/office/drawing/2014/main" id="{7BD71D17-05DD-4048-A16E-FC0D9F744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19625"/>
            <a:ext cx="4953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88C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88C86"/>
                </a:solidFill>
                <a:latin typeface="Helvetica Neue"/>
                <a:ea typeface="Helvetica Neue"/>
                <a:cs typeface="Helvetica Neue"/>
              </a:rPr>
              <a:t>Se bytes e procedência</a:t>
            </a:r>
          </a:p>
          <a:p xmlns:a="http://schemas.openxmlformats.org/drawingml/2006/main">
            <a:pPr algn="l">
              <a:defRPr sz="1950" b="1">
                <a:solidFill>
                  <a:srgbClr val="188C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88C86"/>
                </a:solidFill>
                <a:latin typeface="Helvetica Neue"/>
                <a:ea typeface="Helvetica Neue"/>
                <a:cs typeface="Helvetica Neue"/>
              </a:rPr>
              <a:t>correspondem → publica</a:t>
            </a:r>
          </a:p>
        </p:txBody>
      </p:sp>
      <p:sp>
        <p:nvSpPr>
          <p:cNvPr id="23" name="fail-outcome">
            <a:extLst xmlns:a="http://schemas.openxmlformats.org/drawingml/2006/main">
              <a:ext uri="{FF2B5EF4-FFF2-40B4-BE49-F238E27FC236}">
                <a16:creationId xmlns:a16="http://schemas.microsoft.com/office/drawing/2014/main" id="{1AF5AA7B-BE7B-4D12-86E7-BF7F872AD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4619625"/>
            <a:ext cx="490537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B447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B44742"/>
                </a:solidFill>
                <a:latin typeface="Helvetica Neue"/>
                <a:ea typeface="Helvetica Neue"/>
                <a:cs typeface="Helvetica Neue"/>
              </a:rPr>
              <a:t>Se algo diverge → falha</a:t>
            </a:r>
          </a:p>
          <a:p xmlns:a="http://schemas.openxmlformats.org/drawingml/2006/main">
            <a:pPr algn="l">
              <a:defRPr sz="1950" b="1">
                <a:solidFill>
                  <a:srgbClr val="B447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B44742"/>
                </a:solidFill>
                <a:latin typeface="Helvetica Neue"/>
                <a:ea typeface="Helvetica Neue"/>
                <a:cs typeface="Helvetica Neue"/>
              </a:rPr>
              <a:t>e mantém a versão anterior</a:t>
            </a:r>
          </a:p>
        </p:txBody>
      </p:sp>
    </p:spTree>
    <p:extLst>
      <p:ext uri="{BB962C8B-B14F-4D97-AF65-F5344CB8AC3E}">
        <p14:creationId xmlns:p14="http://schemas.microsoft.com/office/powerpoint/2010/main" val="176701777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6FCF943-1E07-408F-AD02-2003B95BF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896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4283F"/>
                </a:solidFill>
                <a:latin typeface="Helvetica Neue"/>
                <a:ea typeface="Helvetica Neue"/>
                <a:cs typeface="Helvetica Neue"/>
              </a:rPr>
              <a:t>Hash e atestação respondem perguntas diferentes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C0FCD6C2-D813-45F3-8F8B-4E78F32AA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D5D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4D5D70"/>
                </a:solidFill>
                <a:latin typeface="Helvetica Neue"/>
                <a:ea typeface="Helvetica Neue"/>
                <a:cs typeface="Helvetica Neue"/>
              </a:rPr>
              <a:t>O hash identifica conteúdo; a atestação liga esse conteúdo a uma origem verificável.</a:t>
            </a:r>
          </a:p>
        </p:txBody>
      </p:sp>
      <p:sp>
        <p:nvSpPr>
          <p:cNvPr id="3" name="hash-heading">
            <a:extLst xmlns:a="http://schemas.openxmlformats.org/drawingml/2006/main">
              <a:ext uri="{FF2B5EF4-FFF2-40B4-BE49-F238E27FC236}">
                <a16:creationId xmlns:a16="http://schemas.microsoft.com/office/drawing/2014/main" id="{09944F3A-1E8A-44A3-BB8C-70437076C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66925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7097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4283F"/>
                </a:solidFill>
                <a:latin typeface="Helvetica Neue"/>
                <a:ea typeface="Helvetica Neue"/>
                <a:cs typeface="Helvetica Neue"/>
              </a:rPr>
              <a:t>SHA-256 · quais bytes?</a:t>
            </a:r>
          </a:p>
        </p:txBody>
      </p:sp>
      <p:sp>
        <p:nvSpPr>
          <p:cNvPr id="4" name="hash-row-1">
            <a:extLst xmlns:a="http://schemas.openxmlformats.org/drawingml/2006/main">
              <a:ext uri="{FF2B5EF4-FFF2-40B4-BE49-F238E27FC236}">
                <a16:creationId xmlns:a16="http://schemas.microsoft.com/office/drawing/2014/main" id="{CC750627-EDFD-466B-A044-278F482F5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67000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rPr>
              <a:t>Original  d3671dad…b6c2d2a</a:t>
            </a:r>
          </a:p>
        </p:txBody>
      </p:sp>
      <p:sp>
        <p:nvSpPr>
          <p:cNvPr id="5" name="hash-row-2">
            <a:extLst xmlns:a="http://schemas.openxmlformats.org/drawingml/2006/main">
              <a:ext uri="{FF2B5EF4-FFF2-40B4-BE49-F238E27FC236}">
                <a16:creationId xmlns:a16="http://schemas.microsoft.com/office/drawing/2014/main" id="{AEFD036F-20D0-4909-A6A5-2F28CB403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71825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B447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B44742"/>
                </a:solidFill>
                <a:latin typeface="Helvetica Neue"/>
                <a:ea typeface="Helvetica Neue"/>
                <a:cs typeface="Helvetica Neue"/>
              </a:rPr>
              <a:t>Alterado  f2a2c29f…13513c41</a:t>
            </a:r>
          </a:p>
        </p:txBody>
      </p:sp>
      <p:sp>
        <p:nvSpPr>
          <p:cNvPr id="6" name="hash-explanation">
            <a:extLst xmlns:a="http://schemas.openxmlformats.org/drawingml/2006/main">
              <a:ext uri="{FF2B5EF4-FFF2-40B4-BE49-F238E27FC236}">
                <a16:creationId xmlns:a16="http://schemas.microsoft.com/office/drawing/2014/main" id="{474CF38D-F200-4964-A962-D3F29A112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76675"/>
            <a:ext cx="4572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D5D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4D5D70"/>
                </a:solidFill>
                <a:latin typeface="Helvetica Neue"/>
                <a:ea typeface="Helvetica Neue"/>
                <a:cs typeface="Helvetica Neue"/>
              </a:rPr>
              <a:t>O digest mudou. Mas, se alguém troca o arquivo e o checksum juntos, o checksum não identifica o autor.</a:t>
            </a:r>
          </a:p>
        </p:txBody>
      </p:sp>
      <p:sp>
        <p:nvSpPr>
          <p:cNvPr id="7" name="divider">
            <a:extLst xmlns:a="http://schemas.openxmlformats.org/drawingml/2006/main">
              <a:ext uri="{FF2B5EF4-FFF2-40B4-BE49-F238E27FC236}">
                <a16:creationId xmlns:a16="http://schemas.microsoft.com/office/drawing/2014/main" id="{9F14A6AA-1236-47D8-B512-0EC5E841A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47875"/>
            <a:ext cx="190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5D1"/>
          </a:solidFill>
          <a:ln xmlns:a="http://schemas.openxmlformats.org/drawingml/2006/main" w="14288">
            <a:solidFill>
              <a:srgbClr val="B9C5D1"/>
            </a:solidFill>
            <a:prstDash val="solid"/>
          </a:ln>
        </p:spPr>
      </p:sp>
      <p:sp>
        <p:nvSpPr>
          <p:cNvPr id="8" name="attestation-heading">
            <a:extLst xmlns:a="http://schemas.openxmlformats.org/drawingml/2006/main">
              <a:ext uri="{FF2B5EF4-FFF2-40B4-BE49-F238E27FC236}">
                <a16:creationId xmlns:a16="http://schemas.microsoft.com/office/drawing/2014/main" id="{795B6048-D1E5-4EDE-9211-EAA6D67A3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66925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7097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4283F"/>
                </a:solidFill>
                <a:latin typeface="Helvetica Neue"/>
                <a:ea typeface="Helvetica Neue"/>
                <a:cs typeface="Helvetica Neue"/>
              </a:rPr>
              <a:t>Atestação · quem e de onde?</a:t>
            </a:r>
          </a:p>
        </p:txBody>
      </p:sp>
      <p:sp>
        <p:nvSpPr>
          <p:cNvPr id="9" name="attestation-list">
            <a:extLst xmlns:a="http://schemas.openxmlformats.org/drawingml/2006/main">
              <a:ext uri="{FF2B5EF4-FFF2-40B4-BE49-F238E27FC236}">
                <a16:creationId xmlns:a16="http://schemas.microsoft.com/office/drawing/2014/main" id="{027D9CAD-9875-4348-9A36-F1C9B1D6A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67000"/>
            <a:ext cx="48577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rPr>
              <a:t>Repositório</a:t>
            </a:r>
          </a:p>
          <a:p xmlns:a="http://schemas.openxmlformats.org/drawingml/2006/main">
            <a:pPr algn="l">
              <a:defRPr sz="1875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rPr>
              <a:t>Workflow assinante</a:t>
            </a:r>
          </a:p>
          <a:p xmlns:a="http://schemas.openxmlformats.org/drawingml/2006/main">
            <a:pPr algn="l">
              <a:defRPr sz="1875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rPr>
              <a:t>Branch e commit</a:t>
            </a:r>
          </a:p>
        </p:txBody>
      </p:sp>
      <p:sp>
        <p:nvSpPr>
          <p:cNvPr id="10" name="oidc-note">
            <a:extLst xmlns:a="http://schemas.openxmlformats.org/drawingml/2006/main">
              <a:ext uri="{FF2B5EF4-FFF2-40B4-BE49-F238E27FC236}">
                <a16:creationId xmlns:a16="http://schemas.microsoft.com/office/drawing/2014/main" id="{1B475710-4B9C-43E7-BF71-2DCC1783C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152900"/>
            <a:ext cx="49530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D5D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4D5D70"/>
                </a:solidFill>
                <a:latin typeface="Helvetica Neue"/>
                <a:ea typeface="Helvetica Neue"/>
                <a:cs typeface="Helvetica Neue"/>
              </a:rPr>
              <a:t>GitHub emite a identidade OIDC do workflow; Sigstore registra a assinatura pública.</a:t>
            </a:r>
          </a:p>
        </p:txBody>
      </p:sp>
      <p:sp>
        <p:nvSpPr>
          <p:cNvPr id="11" name="evidence-line">
            <a:extLst xmlns:a="http://schemas.openxmlformats.org/drawingml/2006/main">
              <a:ext uri="{FF2B5EF4-FFF2-40B4-BE49-F238E27FC236}">
                <a16:creationId xmlns:a16="http://schemas.microsoft.com/office/drawing/2014/main" id="{20412046-661B-4992-87B2-798F0972B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81625"/>
            <a:ext cx="10810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8C86"/>
          </a:solidFill>
          <a:ln xmlns:a="http://schemas.openxmlformats.org/drawingml/2006/main" w="14288">
            <a:solidFill>
              <a:srgbClr val="188C86"/>
            </a:solidFill>
            <a:prstDash val="solid"/>
          </a:ln>
        </p:spPr>
      </p:sp>
      <p:sp>
        <p:nvSpPr>
          <p:cNvPr id="12" name="evidence">
            <a:extLst xmlns:a="http://schemas.openxmlformats.org/drawingml/2006/main">
              <a:ext uri="{FF2B5EF4-FFF2-40B4-BE49-F238E27FC236}">
                <a16:creationId xmlns:a16="http://schemas.microsoft.com/office/drawing/2014/main" id="{1AC37833-EA93-4BAF-BDAA-A428EC41E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19750"/>
            <a:ext cx="10572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4283F"/>
                </a:solidFill>
                <a:latin typeface="Helvetica Neue"/>
                <a:ea typeface="Helvetica Neue"/>
                <a:cs typeface="Helvetica Neue"/>
              </a:rPr>
              <a:t>Prova real · run 36476423665 · site.tar.gz sha256 07b0a524…16e344d · main @ b6fe2d3…c1441d1</a:t>
            </a:r>
          </a:p>
        </p:txBody>
      </p:sp>
    </p:spTree>
    <p:extLst>
      <p:ext uri="{BB962C8B-B14F-4D97-AF65-F5344CB8AC3E}">
        <p14:creationId xmlns:p14="http://schemas.microsoft.com/office/powerpoint/2010/main" val="148502350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4EBCC9F-CEB3-4D28-9150-9E2276F2E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896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4283F"/>
                </a:solidFill>
                <a:latin typeface="Helvetica Neue"/>
                <a:ea typeface="Helvetica Neue"/>
                <a:cs typeface="Helvetica Neue"/>
              </a:rPr>
              <a:t>O job deploy só publica depois da verificação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34A7012E-1501-48CC-A19B-E4681FC51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D5D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4D5D70"/>
                </a:solidFill>
                <a:latin typeface="Helvetica Neue"/>
                <a:ea typeface="Helvetica Neue"/>
                <a:cs typeface="Helvetica Neue"/>
              </a:rPr>
              <a:t>Uma falha encerra o caminho antes da extração e do upload ao Pages.</a:t>
            </a:r>
          </a:p>
        </p:txBody>
      </p:sp>
      <p:sp>
        <p:nvSpPr>
          <p:cNvPr id="3" name="gate-label">
            <a:extLst xmlns:a="http://schemas.openxmlformats.org/drawingml/2006/main">
              <a:ext uri="{FF2B5EF4-FFF2-40B4-BE49-F238E27FC236}">
                <a16:creationId xmlns:a16="http://schemas.microsoft.com/office/drawing/2014/main" id="{79316F43-FD4F-4F20-BCDD-30EC5C9DC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4429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8C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88C86"/>
                </a:solidFill>
                <a:latin typeface="Helvetica Neue"/>
                <a:ea typeface="Helvetica Neue"/>
                <a:cs typeface="Helvetica Neue"/>
              </a:rPr>
              <a:t>ORDEM DO JOB</a:t>
            </a:r>
          </a:p>
        </p:txBody>
      </p:sp>
      <p:sp>
        <p:nvSpPr>
          <p:cNvPr id="4" name="gate-number-0">
            <a:extLst xmlns:a="http://schemas.openxmlformats.org/drawingml/2006/main">
              <a:ext uri="{FF2B5EF4-FFF2-40B4-BE49-F238E27FC236}">
                <a16:creationId xmlns:a16="http://schemas.microsoft.com/office/drawing/2014/main" id="{3559ACDC-F573-469B-A28E-04BDA549B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438400"/>
            <a:ext cx="47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4283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" name="gate-step-0">
            <a:extLst xmlns:a="http://schemas.openxmlformats.org/drawingml/2006/main">
              <a:ext uri="{FF2B5EF4-FFF2-40B4-BE49-F238E27FC236}">
                <a16:creationId xmlns:a16="http://schemas.microsoft.com/office/drawing/2014/main" id="{14D40778-78AB-424A-9FD5-D5D72C2EE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457450"/>
            <a:ext cx="428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rPr>
              <a:t>Baixar site-package</a:t>
            </a:r>
          </a:p>
        </p:txBody>
      </p:sp>
      <p:sp>
        <p:nvSpPr>
          <p:cNvPr id="6" name="gate-line-0">
            <a:extLst xmlns:a="http://schemas.openxmlformats.org/drawingml/2006/main">
              <a:ext uri="{FF2B5EF4-FFF2-40B4-BE49-F238E27FC236}">
                <a16:creationId xmlns:a16="http://schemas.microsoft.com/office/drawing/2014/main" id="{9BC3C04D-9847-4272-B24F-32203B76F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67025"/>
            <a:ext cx="19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5D1"/>
          </a:solidFill>
          <a:ln xmlns:a="http://schemas.openxmlformats.org/drawingml/2006/main" w="14288">
            <a:solidFill>
              <a:srgbClr val="B9C5D1"/>
            </a:solidFill>
            <a:prstDash val="solid"/>
          </a:ln>
        </p:spPr>
      </p:sp>
      <p:sp>
        <p:nvSpPr>
          <p:cNvPr id="7" name="gate-number-1">
            <a:extLst xmlns:a="http://schemas.openxmlformats.org/drawingml/2006/main">
              <a:ext uri="{FF2B5EF4-FFF2-40B4-BE49-F238E27FC236}">
                <a16:creationId xmlns:a16="http://schemas.microsoft.com/office/drawing/2014/main" id="{3C497248-438B-4422-9876-824F724DF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114675"/>
            <a:ext cx="47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4283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8" name="gate-step-1">
            <a:extLst xmlns:a="http://schemas.openxmlformats.org/drawingml/2006/main">
              <a:ext uri="{FF2B5EF4-FFF2-40B4-BE49-F238E27FC236}">
                <a16:creationId xmlns:a16="http://schemas.microsoft.com/office/drawing/2014/main" id="{F99F58B8-51E5-45CC-A92D-44F199E0C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133725"/>
            <a:ext cx="428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4283F"/>
                </a:solidFill>
                <a:latin typeface="Helvetica Neue"/>
                <a:ea typeface="Helvetica Neue"/>
                <a:cs typeface="Helvetica Neue"/>
              </a:rPr>
              <a:t>Verificar hash e procedência</a:t>
            </a:r>
          </a:p>
        </p:txBody>
      </p:sp>
      <p:sp>
        <p:nvSpPr>
          <p:cNvPr id="9" name="gate-line-1">
            <a:extLst xmlns:a="http://schemas.openxmlformats.org/drawingml/2006/main">
              <a:ext uri="{FF2B5EF4-FFF2-40B4-BE49-F238E27FC236}">
                <a16:creationId xmlns:a16="http://schemas.microsoft.com/office/drawing/2014/main" id="{FEAC67A5-AFDB-422A-A833-1C597C3F0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43300"/>
            <a:ext cx="19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5D1"/>
          </a:solidFill>
          <a:ln xmlns:a="http://schemas.openxmlformats.org/drawingml/2006/main" w="14288">
            <a:solidFill>
              <a:srgbClr val="B9C5D1"/>
            </a:solidFill>
            <a:prstDash val="solid"/>
          </a:ln>
        </p:spPr>
      </p:sp>
      <p:sp>
        <p:nvSpPr>
          <p:cNvPr id="10" name="gate-number-2">
            <a:extLst xmlns:a="http://schemas.openxmlformats.org/drawingml/2006/main">
              <a:ext uri="{FF2B5EF4-FFF2-40B4-BE49-F238E27FC236}">
                <a16:creationId xmlns:a16="http://schemas.microsoft.com/office/drawing/2014/main" id="{95B85C1E-32D4-4D88-A026-C81F2A7E0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790950"/>
            <a:ext cx="47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4283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1" name="gate-step-2">
            <a:extLst xmlns:a="http://schemas.openxmlformats.org/drawingml/2006/main">
              <a:ext uri="{FF2B5EF4-FFF2-40B4-BE49-F238E27FC236}">
                <a16:creationId xmlns:a16="http://schemas.microsoft.com/office/drawing/2014/main" id="{77CEC767-16A7-4B18-BD56-42F66E571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810000"/>
            <a:ext cx="428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rPr>
              <a:t>Ler apenas o index.html esperado</a:t>
            </a:r>
          </a:p>
        </p:txBody>
      </p:sp>
      <p:sp>
        <p:nvSpPr>
          <p:cNvPr id="12" name="gate-line-2">
            <a:extLst xmlns:a="http://schemas.openxmlformats.org/drawingml/2006/main">
              <a:ext uri="{FF2B5EF4-FFF2-40B4-BE49-F238E27FC236}">
                <a16:creationId xmlns:a16="http://schemas.microsoft.com/office/drawing/2014/main" id="{7478E171-FA58-47EF-98CF-26D3AE1EB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19575"/>
            <a:ext cx="19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5D1"/>
          </a:solidFill>
          <a:ln xmlns:a="http://schemas.openxmlformats.org/drawingml/2006/main" w="14288">
            <a:solidFill>
              <a:srgbClr val="B9C5D1"/>
            </a:solidFill>
            <a:prstDash val="solid"/>
          </a:ln>
        </p:spPr>
      </p:sp>
      <p:sp>
        <p:nvSpPr>
          <p:cNvPr id="13" name="gate-number-3">
            <a:extLst xmlns:a="http://schemas.openxmlformats.org/drawingml/2006/main">
              <a:ext uri="{FF2B5EF4-FFF2-40B4-BE49-F238E27FC236}">
                <a16:creationId xmlns:a16="http://schemas.microsoft.com/office/drawing/2014/main" id="{D605F5F3-2989-4594-BAF8-7463DB112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467225"/>
            <a:ext cx="47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88C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88C86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14" name="gate-step-3">
            <a:extLst xmlns:a="http://schemas.openxmlformats.org/drawingml/2006/main">
              <a:ext uri="{FF2B5EF4-FFF2-40B4-BE49-F238E27FC236}">
                <a16:creationId xmlns:a16="http://schemas.microsoft.com/office/drawing/2014/main" id="{9B369090-D6FA-4633-9EC8-1420DAA51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486275"/>
            <a:ext cx="428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4283F"/>
                </a:solidFill>
                <a:latin typeface="Helvetica Neue"/>
                <a:ea typeface="Helvetica Neue"/>
                <a:cs typeface="Helvetica Neue"/>
              </a:rPr>
              <a:t>Enviar e publicar no Pages</a:t>
            </a:r>
          </a:p>
        </p:txBody>
      </p:sp>
      <p:sp>
        <p:nvSpPr>
          <p:cNvPr id="15" name="test-divider">
            <a:extLst xmlns:a="http://schemas.openxmlformats.org/drawingml/2006/main">
              <a:ext uri="{FF2B5EF4-FFF2-40B4-BE49-F238E27FC236}">
                <a16:creationId xmlns:a16="http://schemas.microsoft.com/office/drawing/2014/main" id="{C2F7608A-49B5-4F18-9E85-B890EFA5F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000250"/>
            <a:ext cx="190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5D1"/>
          </a:solidFill>
          <a:ln xmlns:a="http://schemas.openxmlformats.org/drawingml/2006/main" w="14288">
            <a:solidFill>
              <a:srgbClr val="B9C5D1"/>
            </a:solidFill>
            <a:prstDash val="solid"/>
          </a:ln>
        </p:spPr>
      </p:sp>
      <p:sp>
        <p:nvSpPr>
          <p:cNvPr id="16" name="test-label">
            <a:extLst xmlns:a="http://schemas.openxmlformats.org/drawingml/2006/main">
              <a:ext uri="{FF2B5EF4-FFF2-40B4-BE49-F238E27FC236}">
                <a16:creationId xmlns:a16="http://schemas.microsoft.com/office/drawing/2014/main" id="{A2E571C8-A57E-4C6B-BDC4-78F9F8A79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943100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8C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88C86"/>
                </a:solidFill>
                <a:latin typeface="Helvetica Neue"/>
                <a:ea typeface="Helvetica Neue"/>
                <a:cs typeface="Helvetica Neue"/>
              </a:rPr>
              <a:t>CENÁRIOS MANUAIS</a:t>
            </a:r>
          </a:p>
        </p:txBody>
      </p:sp>
      <p:sp>
        <p:nvSpPr>
          <p:cNvPr id="17" name="case-0-name">
            <a:extLst xmlns:a="http://schemas.openxmlformats.org/drawingml/2006/main">
              <a:ext uri="{FF2B5EF4-FFF2-40B4-BE49-F238E27FC236}">
                <a16:creationId xmlns:a16="http://schemas.microsoft.com/office/drawing/2014/main" id="{642C9F26-80FF-486B-B18B-5E7F292D5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457450"/>
            <a:ext cx="2571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4283F"/>
                </a:solidFill>
                <a:latin typeface="Helvetica Neue"/>
                <a:ea typeface="Helvetica Neue"/>
                <a:cs typeface="Helvetica Neue"/>
              </a:rPr>
              <a:t>normal</a:t>
            </a:r>
          </a:p>
        </p:txBody>
      </p:sp>
      <p:sp>
        <p:nvSpPr>
          <p:cNvPr id="18" name="case-0-result">
            <a:extLst xmlns:a="http://schemas.openxmlformats.org/drawingml/2006/main">
              <a:ext uri="{FF2B5EF4-FFF2-40B4-BE49-F238E27FC236}">
                <a16:creationId xmlns:a16="http://schemas.microsoft.com/office/drawing/2014/main" id="{DC2D673A-3C18-4C11-B02A-D322CFDBE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457450"/>
            <a:ext cx="2476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8C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88C86"/>
                </a:solidFill>
                <a:latin typeface="Helvetica Neue"/>
                <a:ea typeface="Helvetica Neue"/>
                <a:cs typeface="Helvetica Neue"/>
              </a:rPr>
              <a:t>assina e publica</a:t>
            </a:r>
          </a:p>
        </p:txBody>
      </p:sp>
      <p:sp>
        <p:nvSpPr>
          <p:cNvPr id="19" name="case-0-line">
            <a:extLst xmlns:a="http://schemas.openxmlformats.org/drawingml/2006/main">
              <a:ext uri="{FF2B5EF4-FFF2-40B4-BE49-F238E27FC236}">
                <a16:creationId xmlns:a16="http://schemas.microsoft.com/office/drawing/2014/main" id="{C5D8D5E6-5B7B-493D-A307-79FCA5408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905125"/>
            <a:ext cx="509587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5D1"/>
          </a:solidFill>
          <a:ln xmlns:a="http://schemas.openxmlformats.org/drawingml/2006/main" w="14288">
            <a:solidFill>
              <a:srgbClr val="B9C5D1"/>
            </a:solidFill>
            <a:prstDash val="solid"/>
          </a:ln>
        </p:spPr>
      </p:sp>
      <p:sp>
        <p:nvSpPr>
          <p:cNvPr id="20" name="case-1-name">
            <a:extLst xmlns:a="http://schemas.openxmlformats.org/drawingml/2006/main">
              <a:ext uri="{FF2B5EF4-FFF2-40B4-BE49-F238E27FC236}">
                <a16:creationId xmlns:a16="http://schemas.microsoft.com/office/drawing/2014/main" id="{C2B83C19-4C98-40C6-BBA1-F17037C82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086100"/>
            <a:ext cx="2571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4283F"/>
                </a:solidFill>
                <a:latin typeface="Helvetica Neue"/>
                <a:ea typeface="Helvetica Neue"/>
                <a:cs typeface="Helvetica Neue"/>
              </a:rPr>
              <a:t>tampered-package</a:t>
            </a:r>
          </a:p>
        </p:txBody>
      </p:sp>
      <p:sp>
        <p:nvSpPr>
          <p:cNvPr id="21" name="case-1-result">
            <a:extLst xmlns:a="http://schemas.openxmlformats.org/drawingml/2006/main">
              <a:ext uri="{FF2B5EF4-FFF2-40B4-BE49-F238E27FC236}">
                <a16:creationId xmlns:a16="http://schemas.microsoft.com/office/drawing/2014/main" id="{FB236581-2F04-4DD6-9FDB-6C91C54CE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086100"/>
            <a:ext cx="2476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B447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B44742"/>
                </a:solidFill>
                <a:latin typeface="Helvetica Neue"/>
                <a:ea typeface="Helvetica Neue"/>
                <a:cs typeface="Helvetica Neue"/>
              </a:rPr>
              <a:t>digest divergente</a:t>
            </a:r>
          </a:p>
        </p:txBody>
      </p:sp>
      <p:sp>
        <p:nvSpPr>
          <p:cNvPr id="22" name="case-1-line">
            <a:extLst xmlns:a="http://schemas.openxmlformats.org/drawingml/2006/main">
              <a:ext uri="{FF2B5EF4-FFF2-40B4-BE49-F238E27FC236}">
                <a16:creationId xmlns:a16="http://schemas.microsoft.com/office/drawing/2014/main" id="{396B282D-77AE-4FB6-86F9-A8C116755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533775"/>
            <a:ext cx="509587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5D1"/>
          </a:solidFill>
          <a:ln xmlns:a="http://schemas.openxmlformats.org/drawingml/2006/main" w="14288">
            <a:solidFill>
              <a:srgbClr val="B9C5D1"/>
            </a:solidFill>
            <a:prstDash val="solid"/>
          </a:ln>
        </p:spPr>
      </p:sp>
      <p:sp>
        <p:nvSpPr>
          <p:cNvPr id="23" name="case-2-name">
            <a:extLst xmlns:a="http://schemas.openxmlformats.org/drawingml/2006/main">
              <a:ext uri="{FF2B5EF4-FFF2-40B4-BE49-F238E27FC236}">
                <a16:creationId xmlns:a16="http://schemas.microsoft.com/office/drawing/2014/main" id="{9358EE90-D739-487C-9440-F88B9BD7A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714750"/>
            <a:ext cx="2571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4283F"/>
                </a:solidFill>
                <a:latin typeface="Helvetica Neue"/>
                <a:ea typeface="Helvetica Neue"/>
                <a:cs typeface="Helvetica Neue"/>
              </a:rPr>
              <a:t>without-attestation</a:t>
            </a:r>
          </a:p>
        </p:txBody>
      </p:sp>
      <p:sp>
        <p:nvSpPr>
          <p:cNvPr id="24" name="case-2-result">
            <a:extLst xmlns:a="http://schemas.openxmlformats.org/drawingml/2006/main">
              <a:ext uri="{FF2B5EF4-FFF2-40B4-BE49-F238E27FC236}">
                <a16:creationId xmlns:a16="http://schemas.microsoft.com/office/drawing/2014/main" id="{70869DD5-88DB-41BF-9AB1-F88C6A8A6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714750"/>
            <a:ext cx="2476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B447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B44742"/>
                </a:solidFill>
                <a:latin typeface="Helvetica Neue"/>
                <a:ea typeface="Helvetica Neue"/>
                <a:cs typeface="Helvetica Neue"/>
              </a:rPr>
              <a:t>prova ausente</a:t>
            </a:r>
          </a:p>
        </p:txBody>
      </p:sp>
      <p:sp>
        <p:nvSpPr>
          <p:cNvPr id="25" name="case-2-line">
            <a:extLst xmlns:a="http://schemas.openxmlformats.org/drawingml/2006/main">
              <a:ext uri="{FF2B5EF4-FFF2-40B4-BE49-F238E27FC236}">
                <a16:creationId xmlns:a16="http://schemas.microsoft.com/office/drawing/2014/main" id="{0CF97976-215D-4BB6-9EC6-40EFAE2A2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162425"/>
            <a:ext cx="509587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5D1"/>
          </a:solidFill>
          <a:ln xmlns:a="http://schemas.openxmlformats.org/drawingml/2006/main" w="14288">
            <a:solidFill>
              <a:srgbClr val="B9C5D1"/>
            </a:solidFill>
            <a:prstDash val="solid"/>
          </a:ln>
        </p:spPr>
      </p:sp>
      <p:sp>
        <p:nvSpPr>
          <p:cNvPr id="26" name="case-3-name">
            <a:extLst xmlns:a="http://schemas.openxmlformats.org/drawingml/2006/main">
              <a:ext uri="{FF2B5EF4-FFF2-40B4-BE49-F238E27FC236}">
                <a16:creationId xmlns:a16="http://schemas.microsoft.com/office/drawing/2014/main" id="{02771ABC-B0F6-4848-806A-1F667A625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343400"/>
            <a:ext cx="2571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28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4283F"/>
                </a:solidFill>
                <a:latin typeface="Helvetica Neue"/>
                <a:ea typeface="Helvetica Neue"/>
                <a:cs typeface="Helvetica Neue"/>
              </a:rPr>
              <a:t>wrong-provenance</a:t>
            </a:r>
          </a:p>
        </p:txBody>
      </p:sp>
      <p:sp>
        <p:nvSpPr>
          <p:cNvPr id="27" name="case-3-result">
            <a:extLst xmlns:a="http://schemas.openxmlformats.org/drawingml/2006/main">
              <a:ext uri="{FF2B5EF4-FFF2-40B4-BE49-F238E27FC236}">
                <a16:creationId xmlns:a16="http://schemas.microsoft.com/office/drawing/2014/main" id="{14A8ABCB-E0F3-4D4D-AA34-3F02F8F45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343400"/>
            <a:ext cx="2476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B447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B44742"/>
                </a:solidFill>
                <a:latin typeface="Helvetica Neue"/>
                <a:ea typeface="Helvetica Neue"/>
                <a:cs typeface="Helvetica Neue"/>
              </a:rPr>
              <a:t>origem incorreta</a:t>
            </a:r>
          </a:p>
        </p:txBody>
      </p:sp>
      <p:sp>
        <p:nvSpPr>
          <p:cNvPr id="28" name="case-3-line">
            <a:extLst xmlns:a="http://schemas.openxmlformats.org/drawingml/2006/main">
              <a:ext uri="{FF2B5EF4-FFF2-40B4-BE49-F238E27FC236}">
                <a16:creationId xmlns:a16="http://schemas.microsoft.com/office/drawing/2014/main" id="{3863E681-8D69-4E70-BD60-2D2A3B28F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791075"/>
            <a:ext cx="509587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5D1"/>
          </a:solidFill>
          <a:ln xmlns:a="http://schemas.openxmlformats.org/drawingml/2006/main" w="14288">
            <a:solidFill>
              <a:srgbClr val="B9C5D1"/>
            </a:solidFill>
            <a:prstDash val="solid"/>
          </a:ln>
        </p:spPr>
      </p:sp>
      <p:sp>
        <p:nvSpPr>
          <p:cNvPr id="29" name="demo-note">
            <a:extLst xmlns:a="http://schemas.openxmlformats.org/drawingml/2006/main">
              <a:ext uri="{FF2B5EF4-FFF2-40B4-BE49-F238E27FC236}">
                <a16:creationId xmlns:a16="http://schemas.microsoft.com/office/drawing/2014/main" id="{86D135E9-8ACF-4234-9722-8C6D4D25E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181600"/>
            <a:ext cx="495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B447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B44742"/>
                </a:solidFill>
                <a:latin typeface="Helvetica Neue"/>
                <a:ea typeface="Helvetica Neue"/>
                <a:cs typeface="Helvetica Neue"/>
              </a:rPr>
              <a:t>Na falha: verificar o log e confirmar que a versão publicada não mudou.</a:t>
            </a:r>
          </a:p>
        </p:txBody>
      </p:sp>
    </p:spTree>
    <p:extLst>
      <p:ext uri="{BB962C8B-B14F-4D97-AF65-F5344CB8AC3E}">
        <p14:creationId xmlns:p14="http://schemas.microsoft.com/office/powerpoint/2010/main" val="4145136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428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close-title">
            <a:extLst xmlns:a="http://schemas.openxmlformats.org/drawingml/2006/main">
              <a:ext uri="{FF2B5EF4-FFF2-40B4-BE49-F238E27FC236}">
                <a16:creationId xmlns:a16="http://schemas.microsoft.com/office/drawing/2014/main" id="{94D03097-D8FF-4176-A03F-6B14E518A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5727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O que a atestação prova — e o que não prova</a:t>
            </a:r>
          </a:p>
        </p:txBody>
      </p:sp>
      <p:sp>
        <p:nvSpPr>
          <p:cNvPr id="2" name="guarantees-title">
            <a:extLst xmlns:a="http://schemas.openxmlformats.org/drawingml/2006/main">
              <a:ext uri="{FF2B5EF4-FFF2-40B4-BE49-F238E27FC236}">
                <a16:creationId xmlns:a16="http://schemas.microsoft.com/office/drawing/2014/main" id="{D93470A7-0A58-4273-95AD-8906E29BE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85950"/>
            <a:ext cx="438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59CDC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59CDC1"/>
                </a:solidFill>
                <a:latin typeface="Helvetica Neue"/>
                <a:ea typeface="Helvetica Neue"/>
                <a:cs typeface="Helvetica Neue"/>
              </a:rPr>
              <a:t>PROVA</a:t>
            </a:r>
          </a:p>
        </p:txBody>
      </p:sp>
      <p:sp>
        <p:nvSpPr>
          <p:cNvPr id="3" name="guarantees">
            <a:extLst xmlns:a="http://schemas.openxmlformats.org/drawingml/2006/main">
              <a:ext uri="{FF2B5EF4-FFF2-40B4-BE49-F238E27FC236}">
                <a16:creationId xmlns:a16="http://schemas.microsoft.com/office/drawing/2014/main" id="{2A0E4B16-4877-46F2-B3B8-0F0814D85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28875"/>
            <a:ext cx="46672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• Integridade dos bytes</a:t>
            </a:r>
          </a:p>
          <a:p xmlns:a="http://schemas.openxmlformats.org/drawingml/2006/main">
            <a:pPr algn="l">
              <a:def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• Identidade do workflow</a:t>
            </a:r>
          </a:p>
          <a:p xmlns:a="http://schemas.openxmlformats.org/drawingml/2006/main">
            <a:pPr algn="l">
              <a:def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• Repositório, branch e commit</a:t>
            </a:r>
          </a:p>
        </p:txBody>
      </p:sp>
      <p:sp>
        <p:nvSpPr>
          <p:cNvPr id="4" name="close-divider">
            <a:extLst xmlns:a="http://schemas.openxmlformats.org/drawingml/2006/main">
              <a:ext uri="{FF2B5EF4-FFF2-40B4-BE49-F238E27FC236}">
                <a16:creationId xmlns:a16="http://schemas.microsoft.com/office/drawing/2014/main" id="{DA017AE8-C072-4615-B790-2E0138FA4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847850"/>
            <a:ext cx="19050" cy="2809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7087"/>
          </a:solidFill>
          <a:ln xmlns:a="http://schemas.openxmlformats.org/drawingml/2006/main" w="14288">
            <a:solidFill>
              <a:srgbClr val="587087"/>
            </a:solidFill>
            <a:prstDash val="solid"/>
          </a:ln>
        </p:spPr>
      </p:sp>
      <p:sp>
        <p:nvSpPr>
          <p:cNvPr id="5" name="limits-title">
            <a:extLst xmlns:a="http://schemas.openxmlformats.org/drawingml/2006/main">
              <a:ext uri="{FF2B5EF4-FFF2-40B4-BE49-F238E27FC236}">
                <a16:creationId xmlns:a16="http://schemas.microsoft.com/office/drawing/2014/main" id="{644AE4E3-9C8A-44FF-892A-92332BB25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885950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0A0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0A09A"/>
                </a:solidFill>
                <a:latin typeface="Helvetica Neue"/>
                <a:ea typeface="Helvetica Neue"/>
                <a:cs typeface="Helvetica Neue"/>
              </a:rPr>
              <a:t>NÃO PROVA</a:t>
            </a:r>
          </a:p>
        </p:txBody>
      </p:sp>
      <p:sp>
        <p:nvSpPr>
          <p:cNvPr id="6" name="limits">
            <a:extLst xmlns:a="http://schemas.openxmlformats.org/drawingml/2006/main">
              <a:ext uri="{FF2B5EF4-FFF2-40B4-BE49-F238E27FC236}">
                <a16:creationId xmlns:a16="http://schemas.microsoft.com/office/drawing/2014/main" id="{421869CF-ABAE-43B8-8019-942DCFFE0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28875"/>
            <a:ext cx="48577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• Que o código é benigno</a:t>
            </a:r>
          </a:p>
          <a:p xmlns:a="http://schemas.openxmlformats.org/drawingml/2006/main">
            <a:pPr algn="l">
              <a:def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• Que main ou o workflow não foram comprometidos</a:t>
            </a:r>
          </a:p>
        </p:txBody>
      </p:sp>
      <p:sp>
        <p:nvSpPr>
          <p:cNvPr id="7" name="takeaway">
            <a:extLst xmlns:a="http://schemas.openxmlformats.org/drawingml/2006/main">
              <a:ext uri="{FF2B5EF4-FFF2-40B4-BE49-F238E27FC236}">
                <a16:creationId xmlns:a16="http://schemas.microsoft.com/office/drawing/2014/main" id="{D2E25E5C-27A1-4E8E-AEA0-85CBE5599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53000"/>
            <a:ext cx="105727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59CDC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59CDC1"/>
                </a:solidFill>
                <a:latin typeface="Helvetica Neue"/>
                <a:ea typeface="Helvetica Neue"/>
                <a:cs typeface="Helvetica Neue"/>
              </a:rPr>
              <a:t>Proteja a origem. Verifique a transferência. Só então publique.</a:t>
            </a:r>
          </a:p>
        </p:txBody>
      </p:sp>
    </p:spTree>
    <p:extLst>
      <p:ext uri="{BB962C8B-B14F-4D97-AF65-F5344CB8AC3E}">
        <p14:creationId xmlns:p14="http://schemas.microsoft.com/office/powerpoint/2010/main" val="43565146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2026-09-28T20:33:49.5430000Z</dcterms:created>
  <dcterms:modified xsi:type="dcterms:W3CDTF">2026-09-28T20:33:49.5430000Z</dcterms:modified>
</coreProperties>
</file>